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55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49325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30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200000">
            <a:off x="-1828800" y="-914400"/>
            <a:ext cx="1005840" cy="8686800"/>
          </a:xfrm>
          <a:prstGeom prst="rect">
            <a:avLst/>
          </a:prstGeom>
          <a:solidFill>
            <a:srgbClr val="1E4620">
              <a:alpha val="60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 rot="1200000">
            <a:off x="548640" y="-914400"/>
            <a:ext cx="1005840" cy="8686800"/>
          </a:xfrm>
          <a:prstGeom prst="rect">
            <a:avLst/>
          </a:prstGeom>
          <a:solidFill>
            <a:srgbClr val="1E4620">
              <a:alpha val="60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" name="Shape 2"/>
          <p:cNvSpPr/>
          <p:nvPr/>
        </p:nvSpPr>
        <p:spPr>
          <a:xfrm rot="1200000">
            <a:off x="2926080" y="-914400"/>
            <a:ext cx="1005840" cy="8686800"/>
          </a:xfrm>
          <a:prstGeom prst="rect">
            <a:avLst/>
          </a:prstGeom>
          <a:solidFill>
            <a:srgbClr val="1E4620">
              <a:alpha val="60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Shape 3"/>
          <p:cNvSpPr/>
          <p:nvPr/>
        </p:nvSpPr>
        <p:spPr>
          <a:xfrm rot="1200000">
            <a:off x="5303520" y="-914400"/>
            <a:ext cx="1005840" cy="8686800"/>
          </a:xfrm>
          <a:prstGeom prst="rect">
            <a:avLst/>
          </a:prstGeom>
          <a:solidFill>
            <a:srgbClr val="1E4620">
              <a:alpha val="60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" name="Shape 4"/>
          <p:cNvSpPr/>
          <p:nvPr/>
        </p:nvSpPr>
        <p:spPr>
          <a:xfrm rot="1200000">
            <a:off x="7680960" y="-914400"/>
            <a:ext cx="1005840" cy="8686800"/>
          </a:xfrm>
          <a:prstGeom prst="rect">
            <a:avLst/>
          </a:prstGeom>
          <a:solidFill>
            <a:srgbClr val="1E4620">
              <a:alpha val="60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7" name="Shape 5"/>
          <p:cNvSpPr/>
          <p:nvPr/>
        </p:nvSpPr>
        <p:spPr>
          <a:xfrm rot="1200000">
            <a:off x="10058400" y="-914400"/>
            <a:ext cx="1005840" cy="8686800"/>
          </a:xfrm>
          <a:prstGeom prst="rect">
            <a:avLst/>
          </a:prstGeom>
          <a:solidFill>
            <a:srgbClr val="1E4620">
              <a:alpha val="60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 txBox="1"/>
          <p:nvPr/>
        </p:nvSpPr>
        <p:spPr>
          <a:xfrm>
            <a:off x="822960" y="214884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400" dirty="0">
                <a:solidFill>
                  <a:srgbClr val="D98E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AGRILINK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2514600"/>
            <a:ext cx="98755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Integrated Multi-Portal</a:t>
            </a:r>
            <a:endParaRPr lang="en-US" sz="44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Agricultural System</a:t>
            </a:r>
            <a:endParaRPr lang="en-US" sz="44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4260838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CFE0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 &amp; Complete UI/UX Prototype Update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822960" y="4892040"/>
            <a:ext cx="502920" cy="41148"/>
          </a:xfrm>
          <a:prstGeom prst="rect">
            <a:avLst/>
          </a:prstGeom>
          <a:solidFill>
            <a:srgbClr val="D98E04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2" name="Text 10"/>
          <p:cNvSpPr txBox="1"/>
          <p:nvPr/>
        </p:nvSpPr>
        <p:spPr>
          <a:xfrm>
            <a:off x="822960" y="5074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FE0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Presenter-1: 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Salman </a:t>
            </a:r>
            <a:r>
              <a:rPr lang="en-US" sz="14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farsy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822960" y="560070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FE0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Department: 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Science &amp; Engineering</a:t>
            </a:r>
            <a:endParaRPr lang="en-US" sz="1400" dirty="0"/>
          </a:p>
        </p:txBody>
      </p:sp>
      <p:sp>
        <p:nvSpPr>
          <p:cNvPr id="14" name="Text 10">
            <a:extLst>
              <a:ext uri="{FF2B5EF4-FFF2-40B4-BE49-F238E27FC236}">
                <a16:creationId xmlns:a16="http://schemas.microsoft.com/office/drawing/2014/main" id="{3F50B85C-F743-786E-0EE7-6FF391D18700}"/>
              </a:ext>
            </a:extLst>
          </p:cNvPr>
          <p:cNvSpPr txBox="1"/>
          <p:nvPr/>
        </p:nvSpPr>
        <p:spPr>
          <a:xfrm>
            <a:off x="822960" y="5333993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FE0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Presenter-2: </a:t>
            </a:r>
            <a:r>
              <a:rPr lang="en-US" sz="14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Sojib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Mia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6E9C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46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Scope at a Glance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555C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AgriLink replaces fragmented, middleman-driven farm trade with one connected digital ecosystem.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057400"/>
            <a:ext cx="5212080" cy="4023360"/>
          </a:xfrm>
          <a:prstGeom prst="roundRect">
            <a:avLst>
              <a:gd name="adj" fmla="val 2727"/>
            </a:avLst>
          </a:prstGeom>
          <a:solidFill>
            <a:srgbClr val="F7F5E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" name="Shape 4"/>
          <p:cNvSpPr/>
          <p:nvPr/>
        </p:nvSpPr>
        <p:spPr>
          <a:xfrm>
            <a:off x="914400" y="2423160"/>
            <a:ext cx="502920" cy="502920"/>
          </a:xfrm>
          <a:prstGeom prst="ellipse">
            <a:avLst/>
          </a:prstGeom>
          <a:solidFill>
            <a:srgbClr val="B03A2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 txBox="1"/>
          <p:nvPr/>
        </p:nvSpPr>
        <p:spPr>
          <a:xfrm>
            <a:off x="914400" y="2423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2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!</a:t>
            </a:r>
            <a:endParaRPr lang="en-US" sz="1320" dirty="0"/>
          </a:p>
        </p:txBody>
      </p:sp>
      <p:sp>
        <p:nvSpPr>
          <p:cNvPr id="8" name="Text 6"/>
          <p:cNvSpPr txBox="1"/>
          <p:nvPr/>
        </p:nvSpPr>
        <p:spPr>
          <a:xfrm>
            <a:off x="1600200" y="242316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B03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914400" y="3337560"/>
            <a:ext cx="128016" cy="128016"/>
          </a:xfrm>
          <a:prstGeom prst="ellipse">
            <a:avLst/>
          </a:prstGeom>
          <a:solidFill>
            <a:srgbClr val="B03A2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 txBox="1"/>
          <p:nvPr/>
        </p:nvSpPr>
        <p:spPr>
          <a:xfrm>
            <a:off x="1234440" y="3172968"/>
            <a:ext cx="4160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23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Middlemen dominance reducing farmers' profit margins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914400" y="4251960"/>
            <a:ext cx="128016" cy="128016"/>
          </a:xfrm>
          <a:prstGeom prst="ellipse">
            <a:avLst/>
          </a:prstGeom>
          <a:solidFill>
            <a:srgbClr val="B03A2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2" name="Text 10"/>
          <p:cNvSpPr txBox="1"/>
          <p:nvPr/>
        </p:nvSpPr>
        <p:spPr>
          <a:xfrm>
            <a:off x="1234440" y="4087368"/>
            <a:ext cx="4160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23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Lack of transparent crowdfunding channels for farm expansion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914400" y="5166360"/>
            <a:ext cx="128016" cy="128016"/>
          </a:xfrm>
          <a:prstGeom prst="ellipse">
            <a:avLst/>
          </a:prstGeom>
          <a:solidFill>
            <a:srgbClr val="B03A2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4" name="Text 12"/>
          <p:cNvSpPr txBox="1"/>
          <p:nvPr/>
        </p:nvSpPr>
        <p:spPr>
          <a:xfrm>
            <a:off x="1234440" y="5001768"/>
            <a:ext cx="4160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23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Absence of centralized crop diagnostics and market data analytics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6035040" y="2057400"/>
            <a:ext cx="5623560" cy="4023360"/>
          </a:xfrm>
          <a:prstGeom prst="roundRect">
            <a:avLst>
              <a:gd name="adj" fmla="val 2727"/>
            </a:avLst>
          </a:prstGeom>
          <a:solidFill>
            <a:srgbClr val="1E462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6" name="Shape 14"/>
          <p:cNvSpPr/>
          <p:nvPr/>
        </p:nvSpPr>
        <p:spPr>
          <a:xfrm>
            <a:off x="6400800" y="2423160"/>
            <a:ext cx="502920" cy="502920"/>
          </a:xfrm>
          <a:prstGeom prst="ellipse">
            <a:avLst/>
          </a:prstGeom>
          <a:solidFill>
            <a:srgbClr val="D98E04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7" name="Text 15"/>
          <p:cNvSpPr txBox="1"/>
          <p:nvPr/>
        </p:nvSpPr>
        <p:spPr>
          <a:xfrm>
            <a:off x="6400800" y="2423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2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320" dirty="0"/>
          </a:p>
        </p:txBody>
      </p:sp>
      <p:sp>
        <p:nvSpPr>
          <p:cNvPr id="18" name="Text 16"/>
          <p:cNvSpPr txBox="1"/>
          <p:nvPr/>
        </p:nvSpPr>
        <p:spPr>
          <a:xfrm>
            <a:off x="7086600" y="242316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AgriLink Solution</a:t>
            </a:r>
            <a:endParaRPr lang="en-US" sz="1900" dirty="0"/>
          </a:p>
        </p:txBody>
      </p:sp>
      <p:sp>
        <p:nvSpPr>
          <p:cNvPr id="19" name="Text 17"/>
          <p:cNvSpPr txBox="1"/>
          <p:nvPr/>
        </p:nvSpPr>
        <p:spPr>
          <a:xfrm>
            <a:off x="6400800" y="3246120"/>
            <a:ext cx="4892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9F1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unified 4-role ecosystem connecting Farmers, Buyers/Investors, Analysts, and System Admins.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6400800" y="4160520"/>
            <a:ext cx="4892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D98E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frontend UI/UX prototype fully developed.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400800" y="4892040"/>
            <a:ext cx="2331720" cy="438912"/>
          </a:xfrm>
          <a:prstGeom prst="roundRect">
            <a:avLst>
              <a:gd name="adj" fmla="val 16667"/>
            </a:avLst>
          </a:prstGeom>
          <a:solidFill>
            <a:srgbClr val="2A5A2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2" name="Text 20"/>
          <p:cNvSpPr txBox="1"/>
          <p:nvPr/>
        </p:nvSpPr>
        <p:spPr>
          <a:xfrm>
            <a:off x="6400800" y="4892040"/>
            <a:ext cx="2331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Farmer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8915400" y="4892040"/>
            <a:ext cx="2331720" cy="438912"/>
          </a:xfrm>
          <a:prstGeom prst="roundRect">
            <a:avLst>
              <a:gd name="adj" fmla="val 16667"/>
            </a:avLst>
          </a:prstGeom>
          <a:solidFill>
            <a:srgbClr val="2A5A2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4" name="Text 22"/>
          <p:cNvSpPr txBox="1"/>
          <p:nvPr/>
        </p:nvSpPr>
        <p:spPr>
          <a:xfrm>
            <a:off x="8915400" y="4892040"/>
            <a:ext cx="2331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Buyer/Investor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400800" y="5440680"/>
            <a:ext cx="2331720" cy="438912"/>
          </a:xfrm>
          <a:prstGeom prst="roundRect">
            <a:avLst>
              <a:gd name="adj" fmla="val 16667"/>
            </a:avLst>
          </a:prstGeom>
          <a:solidFill>
            <a:srgbClr val="2A5A2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6" name="Text 24"/>
          <p:cNvSpPr txBox="1"/>
          <p:nvPr/>
        </p:nvSpPr>
        <p:spPr>
          <a:xfrm>
            <a:off x="6400800" y="5440680"/>
            <a:ext cx="2331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8915400" y="5440680"/>
            <a:ext cx="2331720" cy="438912"/>
          </a:xfrm>
          <a:prstGeom prst="roundRect">
            <a:avLst>
              <a:gd name="adj" fmla="val 16667"/>
            </a:avLst>
          </a:prstGeom>
          <a:solidFill>
            <a:srgbClr val="2A5A2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8" name="Text 26"/>
          <p:cNvSpPr txBox="1"/>
          <p:nvPr/>
        </p:nvSpPr>
        <p:spPr>
          <a:xfrm>
            <a:off x="8915400" y="5440680"/>
            <a:ext cx="2331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6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6E9C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46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Technical Architecture &amp; Design Principles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520440" cy="4709160"/>
          </a:xfrm>
          <a:prstGeom prst="roundRect">
            <a:avLst>
              <a:gd name="adj" fmla="val 2597"/>
            </a:avLst>
          </a:prstGeom>
          <a:solidFill>
            <a:srgbClr val="F7F5E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Shape 3"/>
          <p:cNvSpPr/>
          <p:nvPr/>
        </p:nvSpPr>
        <p:spPr>
          <a:xfrm>
            <a:off x="868680" y="1920240"/>
            <a:ext cx="502920" cy="502920"/>
          </a:xfrm>
          <a:prstGeom prst="ellipse">
            <a:avLst/>
          </a:prstGeom>
          <a:solidFill>
            <a:srgbClr val="6E9C4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 txBox="1"/>
          <p:nvPr/>
        </p:nvSpPr>
        <p:spPr>
          <a:xfrm>
            <a:off x="868680" y="1920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2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</a:t>
            </a:r>
            <a:endParaRPr lang="en-US" sz="132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560320"/>
            <a:ext cx="2971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46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Frontend Design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822960" y="3255264"/>
            <a:ext cx="91440" cy="91440"/>
          </a:xfrm>
          <a:prstGeom prst="ellipse">
            <a:avLst/>
          </a:prstGeom>
          <a:solidFill>
            <a:srgbClr val="6E9C4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 txBox="1"/>
          <p:nvPr/>
        </p:nvSpPr>
        <p:spPr>
          <a:xfrm>
            <a:off x="1051560" y="310896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23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HTML5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22960" y="3913632"/>
            <a:ext cx="91440" cy="91440"/>
          </a:xfrm>
          <a:prstGeom prst="ellipse">
            <a:avLst/>
          </a:prstGeom>
          <a:solidFill>
            <a:srgbClr val="6E9C4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 txBox="1"/>
          <p:nvPr/>
        </p:nvSpPr>
        <p:spPr>
          <a:xfrm>
            <a:off x="1051560" y="3767328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23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 CSS3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22960" y="4572000"/>
            <a:ext cx="91440" cy="91440"/>
          </a:xfrm>
          <a:prstGeom prst="ellipse">
            <a:avLst/>
          </a:prstGeom>
          <a:solidFill>
            <a:srgbClr val="6E9C4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 txBox="1"/>
          <p:nvPr/>
        </p:nvSpPr>
        <p:spPr>
          <a:xfrm>
            <a:off x="1051560" y="4425696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23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Vanilla JavaScript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297680" y="1600200"/>
            <a:ext cx="3520440" cy="4709160"/>
          </a:xfrm>
          <a:prstGeom prst="roundRect">
            <a:avLst>
              <a:gd name="adj" fmla="val 2597"/>
            </a:avLst>
          </a:prstGeom>
          <a:solidFill>
            <a:srgbClr val="F7F5E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5" name="Shape 13"/>
          <p:cNvSpPr/>
          <p:nvPr/>
        </p:nvSpPr>
        <p:spPr>
          <a:xfrm>
            <a:off x="4617720" y="1920240"/>
            <a:ext cx="502920" cy="502920"/>
          </a:xfrm>
          <a:prstGeom prst="ellipse">
            <a:avLst/>
          </a:prstGeom>
          <a:solidFill>
            <a:srgbClr val="6E9C4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6" name="Text 14"/>
          <p:cNvSpPr txBox="1"/>
          <p:nvPr/>
        </p:nvSpPr>
        <p:spPr>
          <a:xfrm>
            <a:off x="4617720" y="1920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2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1320" dirty="0"/>
          </a:p>
        </p:txBody>
      </p:sp>
      <p:sp>
        <p:nvSpPr>
          <p:cNvPr id="17" name="Text 15"/>
          <p:cNvSpPr txBox="1"/>
          <p:nvPr/>
        </p:nvSpPr>
        <p:spPr>
          <a:xfrm>
            <a:off x="4572000" y="2560320"/>
            <a:ext cx="2971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46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Modular CSS Architecture</a:t>
            </a:r>
            <a:endParaRPr lang="en-US" sz="1550" dirty="0"/>
          </a:p>
        </p:txBody>
      </p:sp>
      <p:sp>
        <p:nvSpPr>
          <p:cNvPr id="18" name="Shape 16"/>
          <p:cNvSpPr/>
          <p:nvPr/>
        </p:nvSpPr>
        <p:spPr>
          <a:xfrm>
            <a:off x="4572000" y="3255264"/>
            <a:ext cx="91440" cy="91440"/>
          </a:xfrm>
          <a:prstGeom prst="ellipse">
            <a:avLst/>
          </a:prstGeom>
          <a:solidFill>
            <a:srgbClr val="6E9C4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9" name="Text 17"/>
          <p:cNvSpPr txBox="1"/>
          <p:nvPr/>
        </p:nvSpPr>
        <p:spPr>
          <a:xfrm>
            <a:off x="4800600" y="310896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23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style.css — Farmer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4572000" y="3913632"/>
            <a:ext cx="91440" cy="91440"/>
          </a:xfrm>
          <a:prstGeom prst="ellipse">
            <a:avLst/>
          </a:prstGeom>
          <a:solidFill>
            <a:srgbClr val="6E9C4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1" name="Text 19"/>
          <p:cNvSpPr txBox="1"/>
          <p:nvPr/>
        </p:nvSpPr>
        <p:spPr>
          <a:xfrm>
            <a:off x="4800600" y="3767328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23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user-sidebar-style.css — Buyer/Investor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4572000" y="4572000"/>
            <a:ext cx="91440" cy="91440"/>
          </a:xfrm>
          <a:prstGeom prst="ellipse">
            <a:avLst/>
          </a:prstGeom>
          <a:solidFill>
            <a:srgbClr val="6E9C4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3" name="Text 21"/>
          <p:cNvSpPr txBox="1"/>
          <p:nvPr/>
        </p:nvSpPr>
        <p:spPr>
          <a:xfrm>
            <a:off x="4800600" y="4425696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23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analyst-style.css — Analyst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4572000" y="5230368"/>
            <a:ext cx="91440" cy="91440"/>
          </a:xfrm>
          <a:prstGeom prst="ellipse">
            <a:avLst/>
          </a:prstGeom>
          <a:solidFill>
            <a:srgbClr val="6E9C4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5" name="Text 23"/>
          <p:cNvSpPr txBox="1"/>
          <p:nvPr/>
        </p:nvSpPr>
        <p:spPr>
          <a:xfrm>
            <a:off x="4800600" y="5084064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23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admin-style.css — Admin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8046720" y="1600200"/>
            <a:ext cx="3520440" cy="4709160"/>
          </a:xfrm>
          <a:prstGeom prst="roundRect">
            <a:avLst>
              <a:gd name="adj" fmla="val 2597"/>
            </a:avLst>
          </a:prstGeom>
          <a:solidFill>
            <a:srgbClr val="1E462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7" name="Shape 25"/>
          <p:cNvSpPr/>
          <p:nvPr/>
        </p:nvSpPr>
        <p:spPr>
          <a:xfrm>
            <a:off x="8366760" y="1920240"/>
            <a:ext cx="502920" cy="502920"/>
          </a:xfrm>
          <a:prstGeom prst="ellipse">
            <a:avLst/>
          </a:prstGeom>
          <a:solidFill>
            <a:srgbClr val="D98E04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8" name="Text 26"/>
          <p:cNvSpPr txBox="1"/>
          <p:nvPr/>
        </p:nvSpPr>
        <p:spPr>
          <a:xfrm>
            <a:off x="8366760" y="1920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2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</a:t>
            </a:r>
            <a:endParaRPr lang="en-US" sz="1320" dirty="0"/>
          </a:p>
        </p:txBody>
      </p:sp>
      <p:sp>
        <p:nvSpPr>
          <p:cNvPr id="29" name="Text 27"/>
          <p:cNvSpPr txBox="1"/>
          <p:nvPr/>
        </p:nvSpPr>
        <p:spPr>
          <a:xfrm>
            <a:off x="8321040" y="2560320"/>
            <a:ext cx="2971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Planned Stack</a:t>
            </a:r>
            <a:endParaRPr lang="en-US" sz="1550" dirty="0"/>
          </a:p>
        </p:txBody>
      </p:sp>
      <p:sp>
        <p:nvSpPr>
          <p:cNvPr id="30" name="Shape 28"/>
          <p:cNvSpPr/>
          <p:nvPr/>
        </p:nvSpPr>
        <p:spPr>
          <a:xfrm>
            <a:off x="8321040" y="3255264"/>
            <a:ext cx="91440" cy="91440"/>
          </a:xfrm>
          <a:prstGeom prst="ellipse">
            <a:avLst/>
          </a:prstGeom>
          <a:solidFill>
            <a:srgbClr val="D98E04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1" name="Text 29"/>
          <p:cNvSpPr txBox="1"/>
          <p:nvPr/>
        </p:nvSpPr>
        <p:spPr>
          <a:xfrm>
            <a:off x="8549640" y="310896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E9F1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React.js + TypeScript (Frontend)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8321040" y="3913632"/>
            <a:ext cx="91440" cy="91440"/>
          </a:xfrm>
          <a:prstGeom prst="ellipse">
            <a:avLst/>
          </a:prstGeom>
          <a:solidFill>
            <a:srgbClr val="D98E04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3" name="Text 31"/>
          <p:cNvSpPr txBox="1"/>
          <p:nvPr/>
        </p:nvSpPr>
        <p:spPr>
          <a:xfrm>
            <a:off x="8549640" y="3767328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E9F1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&amp; Express (Backend API)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8321040" y="4572000"/>
            <a:ext cx="91440" cy="91440"/>
          </a:xfrm>
          <a:prstGeom prst="ellipse">
            <a:avLst/>
          </a:prstGeom>
          <a:solidFill>
            <a:srgbClr val="D98E04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5" name="Text 33"/>
          <p:cNvSpPr txBox="1"/>
          <p:nvPr/>
        </p:nvSpPr>
        <p:spPr>
          <a:xfrm>
            <a:off x="8549640" y="4425696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E9F1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(Database)</a:t>
            </a:r>
            <a:endParaRPr lang="en-US" sz="1250" dirty="0"/>
          </a:p>
        </p:txBody>
      </p:sp>
      <p:sp>
        <p:nvSpPr>
          <p:cNvPr id="36" name="Text 34"/>
          <p:cNvSpPr txBox="1"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6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6E9C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GATEWAY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46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Landing Page — index.html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4937760" cy="4297680"/>
          </a:xfrm>
          <a:prstGeom prst="roundRect">
            <a:avLst>
              <a:gd name="adj" fmla="val 2128"/>
            </a:avLst>
          </a:prstGeom>
          <a:solidFill>
            <a:srgbClr val="1E462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4937760" cy="411480"/>
          </a:xfrm>
          <a:prstGeom prst="rect">
            <a:avLst/>
          </a:prstGeom>
          <a:solidFill>
            <a:srgbClr val="12300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" name="Shape 4"/>
          <p:cNvSpPr/>
          <p:nvPr/>
        </p:nvSpPr>
        <p:spPr>
          <a:xfrm>
            <a:off x="731520" y="1828800"/>
            <a:ext cx="137160" cy="137160"/>
          </a:xfrm>
          <a:prstGeom prst="ellipse">
            <a:avLst/>
          </a:prstGeom>
          <a:solidFill>
            <a:srgbClr val="B03A2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7" name="Shape 5"/>
          <p:cNvSpPr/>
          <p:nvPr/>
        </p:nvSpPr>
        <p:spPr>
          <a:xfrm>
            <a:off x="987552" y="1828800"/>
            <a:ext cx="137160" cy="137160"/>
          </a:xfrm>
          <a:prstGeom prst="ellipse">
            <a:avLst/>
          </a:prstGeom>
          <a:solidFill>
            <a:srgbClr val="D98E04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" name="Shape 6"/>
          <p:cNvSpPr/>
          <p:nvPr/>
        </p:nvSpPr>
        <p:spPr>
          <a:xfrm>
            <a:off x="1243584" y="1828800"/>
            <a:ext cx="137160" cy="137160"/>
          </a:xfrm>
          <a:prstGeom prst="ellipse">
            <a:avLst/>
          </a:prstGeom>
          <a:solidFill>
            <a:srgbClr val="6E9C4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 txBox="1"/>
          <p:nvPr/>
        </p:nvSpPr>
        <p:spPr>
          <a:xfrm>
            <a:off x="822960" y="2286000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AgriLink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283464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CFE0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Grow. Fund. Trade. Together.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22960" y="3383280"/>
            <a:ext cx="2011680" cy="502920"/>
          </a:xfrm>
          <a:prstGeom prst="roundRect">
            <a:avLst>
              <a:gd name="adj" fmla="val 50909"/>
            </a:avLst>
          </a:prstGeom>
          <a:solidFill>
            <a:srgbClr val="D98E04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2" name="Text 10"/>
          <p:cNvSpPr txBox="1"/>
          <p:nvPr/>
        </p:nvSpPr>
        <p:spPr>
          <a:xfrm>
            <a:off x="822960" y="338328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230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Started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22960" y="4160520"/>
            <a:ext cx="2057400" cy="548640"/>
          </a:xfrm>
          <a:prstGeom prst="roundRect">
            <a:avLst>
              <a:gd name="adj" fmla="val 13333"/>
            </a:avLst>
          </a:prstGeom>
          <a:solidFill>
            <a:srgbClr val="2A5A2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4" name="Text 12"/>
          <p:cNvSpPr txBox="1"/>
          <p:nvPr/>
        </p:nvSpPr>
        <p:spPr>
          <a:xfrm>
            <a:off x="822960" y="4160520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Farmer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3063240" y="4160520"/>
            <a:ext cx="2057400" cy="548640"/>
          </a:xfrm>
          <a:prstGeom prst="roundRect">
            <a:avLst>
              <a:gd name="adj" fmla="val 13333"/>
            </a:avLst>
          </a:prstGeom>
          <a:solidFill>
            <a:srgbClr val="2A5A2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6" name="Text 14"/>
          <p:cNvSpPr txBox="1"/>
          <p:nvPr/>
        </p:nvSpPr>
        <p:spPr>
          <a:xfrm>
            <a:off x="3063240" y="4160520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Buyer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822960" y="4846320"/>
            <a:ext cx="2057400" cy="548640"/>
          </a:xfrm>
          <a:prstGeom prst="roundRect">
            <a:avLst>
              <a:gd name="adj" fmla="val 13333"/>
            </a:avLst>
          </a:prstGeom>
          <a:solidFill>
            <a:srgbClr val="2A5A2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8" name="Text 16"/>
          <p:cNvSpPr txBox="1"/>
          <p:nvPr/>
        </p:nvSpPr>
        <p:spPr>
          <a:xfrm>
            <a:off x="822960" y="4846320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3063240" y="4846320"/>
            <a:ext cx="2057400" cy="548640"/>
          </a:xfrm>
          <a:prstGeom prst="roundRect">
            <a:avLst>
              <a:gd name="adj" fmla="val 13333"/>
            </a:avLst>
          </a:prstGeom>
          <a:solidFill>
            <a:srgbClr val="2A5A2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0" name="Text 18"/>
          <p:cNvSpPr txBox="1"/>
          <p:nvPr/>
        </p:nvSpPr>
        <p:spPr>
          <a:xfrm>
            <a:off x="3063240" y="4846320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5806440" y="1691640"/>
            <a:ext cx="457200" cy="457200"/>
          </a:xfrm>
          <a:prstGeom prst="ellipse">
            <a:avLst/>
          </a:prstGeom>
          <a:solidFill>
            <a:srgbClr val="6E9C4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2" name="Text 20"/>
          <p:cNvSpPr txBox="1"/>
          <p:nvPr/>
        </p:nvSpPr>
        <p:spPr>
          <a:xfrm>
            <a:off x="5806440" y="1691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6446520" y="164592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46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Landing Page Pitch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6446520" y="2057400"/>
            <a:ext cx="5212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55C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hero section showcasing core platform features and value propositions.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5806440" y="3108960"/>
            <a:ext cx="457200" cy="457200"/>
          </a:xfrm>
          <a:prstGeom prst="ellipse">
            <a:avLst/>
          </a:prstGeom>
          <a:solidFill>
            <a:srgbClr val="6E9C4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6" name="Text 24"/>
          <p:cNvSpPr txBox="1"/>
          <p:nvPr/>
        </p:nvSpPr>
        <p:spPr>
          <a:xfrm>
            <a:off x="5806440" y="3108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6446520" y="306324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46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Role Routing Modal</a:t>
            </a:r>
            <a:endParaRPr lang="en-US" sz="1600" dirty="0"/>
          </a:p>
        </p:txBody>
      </p:sp>
      <p:sp>
        <p:nvSpPr>
          <p:cNvPr id="28" name="Text 26"/>
          <p:cNvSpPr txBox="1"/>
          <p:nvPr/>
        </p:nvSpPr>
        <p:spPr>
          <a:xfrm>
            <a:off x="6446520" y="3474720"/>
            <a:ext cx="5212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55C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“Get Started” pop-up allowing users to choose their role (Farmer, Buyer, Analyst, Admin).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5806440" y="4526280"/>
            <a:ext cx="457200" cy="457200"/>
          </a:xfrm>
          <a:prstGeom prst="ellipse">
            <a:avLst/>
          </a:prstGeom>
          <a:solidFill>
            <a:srgbClr val="6E9C4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0" name="Text 28"/>
          <p:cNvSpPr txBox="1"/>
          <p:nvPr/>
        </p:nvSpPr>
        <p:spPr>
          <a:xfrm>
            <a:off x="5806440" y="4526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6446520" y="448056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46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Integrated Navigation</a:t>
            </a:r>
            <a:endParaRPr lang="en-US" sz="1600" dirty="0"/>
          </a:p>
        </p:txBody>
      </p:sp>
      <p:sp>
        <p:nvSpPr>
          <p:cNvPr id="32" name="Text 30"/>
          <p:cNvSpPr txBox="1"/>
          <p:nvPr/>
        </p:nvSpPr>
        <p:spPr>
          <a:xfrm>
            <a:off x="6446520" y="4892040"/>
            <a:ext cx="5212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55C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Serves as the central hub connecting all 4 segregated portals for demonstration.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6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6E9C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PORTAL 1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46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Farmer Module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0561320" y="502920"/>
            <a:ext cx="777240" cy="777240"/>
          </a:xfrm>
          <a:prstGeom prst="ellipse">
            <a:avLst/>
          </a:prstGeom>
          <a:solidFill>
            <a:srgbClr val="6E9C4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 txBox="1"/>
          <p:nvPr/>
        </p:nvSpPr>
        <p:spPr>
          <a:xfrm>
            <a:off x="10561320" y="50292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4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</a:t>
            </a:r>
            <a:endParaRPr lang="en-US" sz="204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5257800" cy="2240280"/>
          </a:xfrm>
          <a:prstGeom prst="roundRect">
            <a:avLst>
              <a:gd name="adj" fmla="val 4082"/>
            </a:avLst>
          </a:prstGeom>
          <a:solidFill>
            <a:srgbClr val="F7F5E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7" name="Shape 5"/>
          <p:cNvSpPr/>
          <p:nvPr/>
        </p:nvSpPr>
        <p:spPr>
          <a:xfrm>
            <a:off x="822960" y="2057400"/>
            <a:ext cx="502920" cy="502920"/>
          </a:xfrm>
          <a:prstGeom prst="ellipse">
            <a:avLst/>
          </a:prstGeom>
          <a:solidFill>
            <a:srgbClr val="6E9C4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 txBox="1"/>
          <p:nvPr/>
        </p:nvSpPr>
        <p:spPr>
          <a:xfrm>
            <a:off x="822960" y="2057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2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20" dirty="0"/>
          </a:p>
        </p:txBody>
      </p:sp>
      <p:sp>
        <p:nvSpPr>
          <p:cNvPr id="9" name="Text 7"/>
          <p:cNvSpPr txBox="1"/>
          <p:nvPr/>
        </p:nvSpPr>
        <p:spPr>
          <a:xfrm>
            <a:off x="1508760" y="2039112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46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Farmer Dashboard</a:t>
            </a:r>
            <a:endParaRPr lang="en-US" sz="1550" dirty="0"/>
          </a:p>
        </p:txBody>
      </p:sp>
      <p:sp>
        <p:nvSpPr>
          <p:cNvPr id="10" name="Text 8"/>
          <p:cNvSpPr txBox="1"/>
          <p:nvPr/>
        </p:nvSpPr>
        <p:spPr>
          <a:xfrm>
            <a:off x="868680" y="2743200"/>
            <a:ext cx="4617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23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summary of crop sales, active listings, and weather alerts.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126480" y="1783080"/>
            <a:ext cx="5257800" cy="2240280"/>
          </a:xfrm>
          <a:prstGeom prst="roundRect">
            <a:avLst>
              <a:gd name="adj" fmla="val 4082"/>
            </a:avLst>
          </a:prstGeom>
          <a:solidFill>
            <a:srgbClr val="F7F5E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2" name="Shape 10"/>
          <p:cNvSpPr/>
          <p:nvPr/>
        </p:nvSpPr>
        <p:spPr>
          <a:xfrm>
            <a:off x="6400800" y="2057400"/>
            <a:ext cx="502920" cy="502920"/>
          </a:xfrm>
          <a:prstGeom prst="ellipse">
            <a:avLst/>
          </a:prstGeom>
          <a:solidFill>
            <a:srgbClr val="6E9C4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 txBox="1"/>
          <p:nvPr/>
        </p:nvSpPr>
        <p:spPr>
          <a:xfrm>
            <a:off x="6400800" y="2057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2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20" dirty="0"/>
          </a:p>
        </p:txBody>
      </p:sp>
      <p:sp>
        <p:nvSpPr>
          <p:cNvPr id="14" name="Text 12"/>
          <p:cNvSpPr txBox="1"/>
          <p:nvPr/>
        </p:nvSpPr>
        <p:spPr>
          <a:xfrm>
            <a:off x="7086600" y="2039112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46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My Crops &amp; Marketplace Listing</a:t>
            </a:r>
            <a:endParaRPr lang="en-US" sz="1550" dirty="0"/>
          </a:p>
        </p:txBody>
      </p:sp>
      <p:sp>
        <p:nvSpPr>
          <p:cNvPr id="15" name="Text 13"/>
          <p:cNvSpPr txBox="1"/>
          <p:nvPr/>
        </p:nvSpPr>
        <p:spPr>
          <a:xfrm>
            <a:off x="6446520" y="2743200"/>
            <a:ext cx="4617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23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 registration with stock and unit pricing controls.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4297680"/>
            <a:ext cx="5257800" cy="2240280"/>
          </a:xfrm>
          <a:prstGeom prst="roundRect">
            <a:avLst>
              <a:gd name="adj" fmla="val 4082"/>
            </a:avLst>
          </a:prstGeom>
          <a:solidFill>
            <a:srgbClr val="F7F5E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7" name="Shape 15"/>
          <p:cNvSpPr/>
          <p:nvPr/>
        </p:nvSpPr>
        <p:spPr>
          <a:xfrm>
            <a:off x="822960" y="4572000"/>
            <a:ext cx="502920" cy="502920"/>
          </a:xfrm>
          <a:prstGeom prst="ellipse">
            <a:avLst/>
          </a:prstGeom>
          <a:solidFill>
            <a:srgbClr val="6E9C4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8" name="Text 16"/>
          <p:cNvSpPr txBox="1"/>
          <p:nvPr/>
        </p:nvSpPr>
        <p:spPr>
          <a:xfrm>
            <a:off x="822960" y="4572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2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20" dirty="0"/>
          </a:p>
        </p:txBody>
      </p:sp>
      <p:sp>
        <p:nvSpPr>
          <p:cNvPr id="19" name="Text 17"/>
          <p:cNvSpPr txBox="1"/>
          <p:nvPr/>
        </p:nvSpPr>
        <p:spPr>
          <a:xfrm>
            <a:off x="1508760" y="4553712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46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Crowdfunding Request System</a:t>
            </a:r>
            <a:endParaRPr lang="en-US" sz="1550" dirty="0"/>
          </a:p>
        </p:txBody>
      </p:sp>
      <p:sp>
        <p:nvSpPr>
          <p:cNvPr id="20" name="Text 18"/>
          <p:cNvSpPr txBox="1"/>
          <p:nvPr/>
        </p:nvSpPr>
        <p:spPr>
          <a:xfrm>
            <a:off x="868680" y="5257800"/>
            <a:ext cx="4617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23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Portal for requesting farm expansion capital from investors.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126480" y="4297680"/>
            <a:ext cx="5257800" cy="2240280"/>
          </a:xfrm>
          <a:prstGeom prst="roundRect">
            <a:avLst>
              <a:gd name="adj" fmla="val 4082"/>
            </a:avLst>
          </a:prstGeom>
          <a:solidFill>
            <a:srgbClr val="F7F5E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2" name="Shape 20"/>
          <p:cNvSpPr/>
          <p:nvPr/>
        </p:nvSpPr>
        <p:spPr>
          <a:xfrm>
            <a:off x="6400800" y="4572000"/>
            <a:ext cx="502920" cy="502920"/>
          </a:xfrm>
          <a:prstGeom prst="ellipse">
            <a:avLst/>
          </a:prstGeom>
          <a:solidFill>
            <a:srgbClr val="6E9C4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3" name="Text 21"/>
          <p:cNvSpPr txBox="1"/>
          <p:nvPr/>
        </p:nvSpPr>
        <p:spPr>
          <a:xfrm>
            <a:off x="6400800" y="4572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2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20" dirty="0"/>
          </a:p>
        </p:txBody>
      </p:sp>
      <p:sp>
        <p:nvSpPr>
          <p:cNvPr id="24" name="Text 22"/>
          <p:cNvSpPr txBox="1"/>
          <p:nvPr/>
        </p:nvSpPr>
        <p:spPr>
          <a:xfrm>
            <a:off x="7086600" y="4553712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46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Advisory &amp; Weather Log</a:t>
            </a:r>
            <a:endParaRPr lang="en-US" sz="1550" dirty="0"/>
          </a:p>
        </p:txBody>
      </p:sp>
      <p:sp>
        <p:nvSpPr>
          <p:cNvPr id="25" name="Text 23"/>
          <p:cNvSpPr txBox="1"/>
          <p:nvPr/>
        </p:nvSpPr>
        <p:spPr>
          <a:xfrm>
            <a:off x="6446520" y="5257800"/>
            <a:ext cx="4617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23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for crop disease treatment and weather updates.</a:t>
            </a:r>
            <a:endParaRPr lang="en-US" sz="1250" dirty="0"/>
          </a:p>
        </p:txBody>
      </p:sp>
      <p:sp>
        <p:nvSpPr>
          <p:cNvPr id="26" name="Text 24"/>
          <p:cNvSpPr txBox="1"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6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D98E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PORTAL 2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46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Buyer &amp; Investor Module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0561320" y="502920"/>
            <a:ext cx="777240" cy="777240"/>
          </a:xfrm>
          <a:prstGeom prst="ellipse">
            <a:avLst/>
          </a:prstGeom>
          <a:solidFill>
            <a:srgbClr val="D98E04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 txBox="1"/>
          <p:nvPr/>
        </p:nvSpPr>
        <p:spPr>
          <a:xfrm>
            <a:off x="10561320" y="50292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4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204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5257800" cy="2240280"/>
          </a:xfrm>
          <a:prstGeom prst="roundRect">
            <a:avLst>
              <a:gd name="adj" fmla="val 4082"/>
            </a:avLst>
          </a:prstGeom>
          <a:solidFill>
            <a:srgbClr val="F7F5E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7" name="Shape 5"/>
          <p:cNvSpPr/>
          <p:nvPr/>
        </p:nvSpPr>
        <p:spPr>
          <a:xfrm>
            <a:off x="822960" y="2057400"/>
            <a:ext cx="502920" cy="502920"/>
          </a:xfrm>
          <a:prstGeom prst="ellipse">
            <a:avLst/>
          </a:prstGeom>
          <a:solidFill>
            <a:srgbClr val="D98E04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 txBox="1"/>
          <p:nvPr/>
        </p:nvSpPr>
        <p:spPr>
          <a:xfrm>
            <a:off x="822960" y="2057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2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20" dirty="0"/>
          </a:p>
        </p:txBody>
      </p:sp>
      <p:sp>
        <p:nvSpPr>
          <p:cNvPr id="9" name="Text 7"/>
          <p:cNvSpPr txBox="1"/>
          <p:nvPr/>
        </p:nvSpPr>
        <p:spPr>
          <a:xfrm>
            <a:off x="1508760" y="2039112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46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Fresh Produce Marketplace</a:t>
            </a:r>
            <a:endParaRPr lang="en-US" sz="1550" dirty="0"/>
          </a:p>
        </p:txBody>
      </p:sp>
      <p:sp>
        <p:nvSpPr>
          <p:cNvPr id="10" name="Text 8"/>
          <p:cNvSpPr txBox="1"/>
          <p:nvPr/>
        </p:nvSpPr>
        <p:spPr>
          <a:xfrm>
            <a:off x="868680" y="2743200"/>
            <a:ext cx="4617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23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grid layout with cards for direct produce purchasing.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126480" y="1783080"/>
            <a:ext cx="5257800" cy="2240280"/>
          </a:xfrm>
          <a:prstGeom prst="roundRect">
            <a:avLst>
              <a:gd name="adj" fmla="val 4082"/>
            </a:avLst>
          </a:prstGeom>
          <a:solidFill>
            <a:srgbClr val="F7F5E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2" name="Shape 10"/>
          <p:cNvSpPr/>
          <p:nvPr/>
        </p:nvSpPr>
        <p:spPr>
          <a:xfrm>
            <a:off x="6400800" y="2057400"/>
            <a:ext cx="502920" cy="502920"/>
          </a:xfrm>
          <a:prstGeom prst="ellipse">
            <a:avLst/>
          </a:prstGeom>
          <a:solidFill>
            <a:srgbClr val="D98E04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 txBox="1"/>
          <p:nvPr/>
        </p:nvSpPr>
        <p:spPr>
          <a:xfrm>
            <a:off x="6400800" y="2057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2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20" dirty="0"/>
          </a:p>
        </p:txBody>
      </p:sp>
      <p:sp>
        <p:nvSpPr>
          <p:cNvPr id="14" name="Text 12"/>
          <p:cNvSpPr txBox="1"/>
          <p:nvPr/>
        </p:nvSpPr>
        <p:spPr>
          <a:xfrm>
            <a:off x="7086600" y="2039112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46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Crop Details Page</a:t>
            </a:r>
            <a:endParaRPr lang="en-US" sz="1550" dirty="0"/>
          </a:p>
        </p:txBody>
      </p:sp>
      <p:sp>
        <p:nvSpPr>
          <p:cNvPr id="15" name="Text 13"/>
          <p:cNvSpPr txBox="1"/>
          <p:nvPr/>
        </p:nvSpPr>
        <p:spPr>
          <a:xfrm>
            <a:off x="6446520" y="2743200"/>
            <a:ext cx="4617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23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In-depth view of crop quality, farmer profile, and stock (crop-details.html).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4297680"/>
            <a:ext cx="5257800" cy="2240280"/>
          </a:xfrm>
          <a:prstGeom prst="roundRect">
            <a:avLst>
              <a:gd name="adj" fmla="val 4082"/>
            </a:avLst>
          </a:prstGeom>
          <a:solidFill>
            <a:srgbClr val="F7F5E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7" name="Shape 15"/>
          <p:cNvSpPr/>
          <p:nvPr/>
        </p:nvSpPr>
        <p:spPr>
          <a:xfrm>
            <a:off x="822960" y="4572000"/>
            <a:ext cx="502920" cy="502920"/>
          </a:xfrm>
          <a:prstGeom prst="ellipse">
            <a:avLst/>
          </a:prstGeom>
          <a:solidFill>
            <a:srgbClr val="D98E04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8" name="Text 16"/>
          <p:cNvSpPr txBox="1"/>
          <p:nvPr/>
        </p:nvSpPr>
        <p:spPr>
          <a:xfrm>
            <a:off x="822960" y="4572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2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20" dirty="0"/>
          </a:p>
        </p:txBody>
      </p:sp>
      <p:sp>
        <p:nvSpPr>
          <p:cNvPr id="19" name="Text 17"/>
          <p:cNvSpPr txBox="1"/>
          <p:nvPr/>
        </p:nvSpPr>
        <p:spPr>
          <a:xfrm>
            <a:off x="1508760" y="4553712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46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Investment List &amp; Checkout</a:t>
            </a:r>
            <a:endParaRPr lang="en-US" sz="1550" dirty="0"/>
          </a:p>
        </p:txBody>
      </p:sp>
      <p:sp>
        <p:nvSpPr>
          <p:cNvPr id="20" name="Text 18"/>
          <p:cNvSpPr txBox="1"/>
          <p:nvPr/>
        </p:nvSpPr>
        <p:spPr>
          <a:xfrm>
            <a:off x="868680" y="5257800"/>
            <a:ext cx="4617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23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Crowdfunding portal with ROI calculations and checkout flows.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126480" y="4297680"/>
            <a:ext cx="5257800" cy="2240280"/>
          </a:xfrm>
          <a:prstGeom prst="roundRect">
            <a:avLst>
              <a:gd name="adj" fmla="val 4082"/>
            </a:avLst>
          </a:prstGeom>
          <a:solidFill>
            <a:srgbClr val="F7F5E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2" name="Shape 20"/>
          <p:cNvSpPr/>
          <p:nvPr/>
        </p:nvSpPr>
        <p:spPr>
          <a:xfrm>
            <a:off x="6400800" y="4572000"/>
            <a:ext cx="502920" cy="502920"/>
          </a:xfrm>
          <a:prstGeom prst="ellipse">
            <a:avLst/>
          </a:prstGeom>
          <a:solidFill>
            <a:srgbClr val="D98E04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3" name="Text 21"/>
          <p:cNvSpPr txBox="1"/>
          <p:nvPr/>
        </p:nvSpPr>
        <p:spPr>
          <a:xfrm>
            <a:off x="6400800" y="4572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2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20" dirty="0"/>
          </a:p>
        </p:txBody>
      </p:sp>
      <p:sp>
        <p:nvSpPr>
          <p:cNvPr id="24" name="Text 22"/>
          <p:cNvSpPr txBox="1"/>
          <p:nvPr/>
        </p:nvSpPr>
        <p:spPr>
          <a:xfrm>
            <a:off x="7086600" y="4553712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46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My Investments &amp; My Orders</a:t>
            </a:r>
            <a:endParaRPr lang="en-US" sz="1550" dirty="0"/>
          </a:p>
        </p:txBody>
      </p:sp>
      <p:sp>
        <p:nvSpPr>
          <p:cNvPr id="25" name="Text 23"/>
          <p:cNvSpPr txBox="1"/>
          <p:nvPr/>
        </p:nvSpPr>
        <p:spPr>
          <a:xfrm>
            <a:off x="6446520" y="5257800"/>
            <a:ext cx="4617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23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 tracking pages for purchase history and portfolio ROI.</a:t>
            </a:r>
            <a:endParaRPr lang="en-US" sz="1250" dirty="0"/>
          </a:p>
        </p:txBody>
      </p:sp>
      <p:sp>
        <p:nvSpPr>
          <p:cNvPr id="26" name="Text 24"/>
          <p:cNvSpPr txBox="1"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6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3E7C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PORTAL 3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46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Agricultural Analyst Module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0561320" y="502920"/>
            <a:ext cx="777240" cy="777240"/>
          </a:xfrm>
          <a:prstGeom prst="ellipse">
            <a:avLst/>
          </a:prstGeom>
          <a:solidFill>
            <a:srgbClr val="3E7CB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 txBox="1"/>
          <p:nvPr/>
        </p:nvSpPr>
        <p:spPr>
          <a:xfrm>
            <a:off x="10561320" y="50292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4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204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5257800" cy="2240280"/>
          </a:xfrm>
          <a:prstGeom prst="roundRect">
            <a:avLst>
              <a:gd name="adj" fmla="val 4082"/>
            </a:avLst>
          </a:prstGeom>
          <a:solidFill>
            <a:srgbClr val="F7F5E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7" name="Shape 5"/>
          <p:cNvSpPr/>
          <p:nvPr/>
        </p:nvSpPr>
        <p:spPr>
          <a:xfrm>
            <a:off x="822960" y="2057400"/>
            <a:ext cx="502920" cy="502920"/>
          </a:xfrm>
          <a:prstGeom prst="ellipse">
            <a:avLst/>
          </a:prstGeom>
          <a:solidFill>
            <a:srgbClr val="3E7CB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 txBox="1"/>
          <p:nvPr/>
        </p:nvSpPr>
        <p:spPr>
          <a:xfrm>
            <a:off x="822960" y="2057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2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20" dirty="0"/>
          </a:p>
        </p:txBody>
      </p:sp>
      <p:sp>
        <p:nvSpPr>
          <p:cNvPr id="9" name="Text 7"/>
          <p:cNvSpPr txBox="1"/>
          <p:nvPr/>
        </p:nvSpPr>
        <p:spPr>
          <a:xfrm>
            <a:off x="1508760" y="2039112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46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Feasibility Audits</a:t>
            </a:r>
            <a:endParaRPr lang="en-US" sz="1550" dirty="0"/>
          </a:p>
        </p:txBody>
      </p:sp>
      <p:sp>
        <p:nvSpPr>
          <p:cNvPr id="10" name="Text 8"/>
          <p:cNvSpPr txBox="1"/>
          <p:nvPr/>
        </p:nvSpPr>
        <p:spPr>
          <a:xfrm>
            <a:off x="868680" y="2743200"/>
            <a:ext cx="4617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23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mechanism for crowdfunding risk scores and approval stamps.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126480" y="1783080"/>
            <a:ext cx="5257800" cy="2240280"/>
          </a:xfrm>
          <a:prstGeom prst="roundRect">
            <a:avLst>
              <a:gd name="adj" fmla="val 4082"/>
            </a:avLst>
          </a:prstGeom>
          <a:solidFill>
            <a:srgbClr val="F7F5E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2" name="Shape 10"/>
          <p:cNvSpPr/>
          <p:nvPr/>
        </p:nvSpPr>
        <p:spPr>
          <a:xfrm>
            <a:off x="6400800" y="2057400"/>
            <a:ext cx="502920" cy="502920"/>
          </a:xfrm>
          <a:prstGeom prst="ellipse">
            <a:avLst/>
          </a:prstGeom>
          <a:solidFill>
            <a:srgbClr val="3E7CB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 txBox="1"/>
          <p:nvPr/>
        </p:nvSpPr>
        <p:spPr>
          <a:xfrm>
            <a:off x="6400800" y="2057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2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20" dirty="0"/>
          </a:p>
        </p:txBody>
      </p:sp>
      <p:sp>
        <p:nvSpPr>
          <p:cNvPr id="14" name="Text 12"/>
          <p:cNvSpPr txBox="1"/>
          <p:nvPr/>
        </p:nvSpPr>
        <p:spPr>
          <a:xfrm>
            <a:off x="7086600" y="2039112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46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Disease Diagnostic Verification</a:t>
            </a:r>
            <a:endParaRPr lang="en-US" sz="1550" dirty="0"/>
          </a:p>
        </p:txBody>
      </p:sp>
      <p:sp>
        <p:nvSpPr>
          <p:cNvPr id="15" name="Text 13"/>
          <p:cNvSpPr txBox="1"/>
          <p:nvPr/>
        </p:nvSpPr>
        <p:spPr>
          <a:xfrm>
            <a:off x="6446520" y="2743200"/>
            <a:ext cx="4617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23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Expert escalation log to review and prescribe treatment for flagged AI cases.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4297680"/>
            <a:ext cx="5257800" cy="2240280"/>
          </a:xfrm>
          <a:prstGeom prst="roundRect">
            <a:avLst>
              <a:gd name="adj" fmla="val 4082"/>
            </a:avLst>
          </a:prstGeom>
          <a:solidFill>
            <a:srgbClr val="F7F5E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7" name="Shape 15"/>
          <p:cNvSpPr/>
          <p:nvPr/>
        </p:nvSpPr>
        <p:spPr>
          <a:xfrm>
            <a:off x="822960" y="4572000"/>
            <a:ext cx="502920" cy="502920"/>
          </a:xfrm>
          <a:prstGeom prst="ellipse">
            <a:avLst/>
          </a:prstGeom>
          <a:solidFill>
            <a:srgbClr val="3E7CB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8" name="Text 16"/>
          <p:cNvSpPr txBox="1"/>
          <p:nvPr/>
        </p:nvSpPr>
        <p:spPr>
          <a:xfrm>
            <a:off x="822960" y="4572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2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20" dirty="0"/>
          </a:p>
        </p:txBody>
      </p:sp>
      <p:sp>
        <p:nvSpPr>
          <p:cNvPr id="19" name="Text 17"/>
          <p:cNvSpPr txBox="1"/>
          <p:nvPr/>
        </p:nvSpPr>
        <p:spPr>
          <a:xfrm>
            <a:off x="1508760" y="4553712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46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Regional Market Price Index</a:t>
            </a:r>
            <a:endParaRPr lang="en-US" sz="1550" dirty="0"/>
          </a:p>
        </p:txBody>
      </p:sp>
      <p:sp>
        <p:nvSpPr>
          <p:cNvPr id="20" name="Text 18"/>
          <p:cNvSpPr txBox="1"/>
          <p:nvPr/>
        </p:nvSpPr>
        <p:spPr>
          <a:xfrm>
            <a:off x="868680" y="5257800"/>
            <a:ext cx="4617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23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panel to adjust market price indexes based on regional harvest shifts.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126480" y="4297680"/>
            <a:ext cx="5257800" cy="2240280"/>
          </a:xfrm>
          <a:prstGeom prst="roundRect">
            <a:avLst>
              <a:gd name="adj" fmla="val 4082"/>
            </a:avLst>
          </a:prstGeom>
          <a:solidFill>
            <a:srgbClr val="F7F5E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2" name="Shape 20"/>
          <p:cNvSpPr/>
          <p:nvPr/>
        </p:nvSpPr>
        <p:spPr>
          <a:xfrm>
            <a:off x="6400800" y="4572000"/>
            <a:ext cx="502920" cy="502920"/>
          </a:xfrm>
          <a:prstGeom prst="ellipse">
            <a:avLst/>
          </a:prstGeom>
          <a:solidFill>
            <a:srgbClr val="3E7CB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3" name="Text 21"/>
          <p:cNvSpPr txBox="1"/>
          <p:nvPr/>
        </p:nvSpPr>
        <p:spPr>
          <a:xfrm>
            <a:off x="6400800" y="4572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2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20" dirty="0"/>
          </a:p>
        </p:txBody>
      </p:sp>
      <p:sp>
        <p:nvSpPr>
          <p:cNvPr id="24" name="Text 22"/>
          <p:cNvSpPr txBox="1"/>
          <p:nvPr/>
        </p:nvSpPr>
        <p:spPr>
          <a:xfrm>
            <a:off x="7086600" y="4553712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46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Verified Analyst Profile</a:t>
            </a:r>
            <a:endParaRPr lang="en-US" sz="1550" dirty="0"/>
          </a:p>
        </p:txBody>
      </p:sp>
      <p:sp>
        <p:nvSpPr>
          <p:cNvPr id="25" name="Text 23"/>
          <p:cNvSpPr txBox="1"/>
          <p:nvPr/>
        </p:nvSpPr>
        <p:spPr>
          <a:xfrm>
            <a:off x="6446520" y="5257800"/>
            <a:ext cx="4617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23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 credentials, BARI/Institutional affiliation, and digital stamp upload.</a:t>
            </a:r>
            <a:endParaRPr lang="en-US" sz="1250" dirty="0"/>
          </a:p>
        </p:txBody>
      </p:sp>
      <p:sp>
        <p:nvSpPr>
          <p:cNvPr id="26" name="Text 24"/>
          <p:cNvSpPr txBox="1"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6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8E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PORTAL 4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46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Administrator Module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0561320" y="502920"/>
            <a:ext cx="777240" cy="777240"/>
          </a:xfrm>
          <a:prstGeom prst="ellipse">
            <a:avLst/>
          </a:prstGeom>
          <a:solidFill>
            <a:srgbClr val="8E4A6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 txBox="1"/>
          <p:nvPr/>
        </p:nvSpPr>
        <p:spPr>
          <a:xfrm>
            <a:off x="10561320" y="50292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4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</a:t>
            </a:r>
            <a:endParaRPr lang="en-US" sz="204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5257800" cy="2240280"/>
          </a:xfrm>
          <a:prstGeom prst="roundRect">
            <a:avLst>
              <a:gd name="adj" fmla="val 4082"/>
            </a:avLst>
          </a:prstGeom>
          <a:solidFill>
            <a:srgbClr val="F7F5E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7" name="Shape 5"/>
          <p:cNvSpPr/>
          <p:nvPr/>
        </p:nvSpPr>
        <p:spPr>
          <a:xfrm>
            <a:off x="822960" y="2057400"/>
            <a:ext cx="502920" cy="502920"/>
          </a:xfrm>
          <a:prstGeom prst="ellipse">
            <a:avLst/>
          </a:prstGeom>
          <a:solidFill>
            <a:srgbClr val="8E4A6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 txBox="1"/>
          <p:nvPr/>
        </p:nvSpPr>
        <p:spPr>
          <a:xfrm>
            <a:off x="822960" y="2057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2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20" dirty="0"/>
          </a:p>
        </p:txBody>
      </p:sp>
      <p:sp>
        <p:nvSpPr>
          <p:cNvPr id="9" name="Text 7"/>
          <p:cNvSpPr txBox="1"/>
          <p:nvPr/>
        </p:nvSpPr>
        <p:spPr>
          <a:xfrm>
            <a:off x="1508760" y="2039112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46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User Verification Queue</a:t>
            </a:r>
            <a:endParaRPr lang="en-US" sz="1550" dirty="0"/>
          </a:p>
        </p:txBody>
      </p:sp>
      <p:sp>
        <p:nvSpPr>
          <p:cNvPr id="10" name="Text 8"/>
          <p:cNvSpPr txBox="1"/>
          <p:nvPr/>
        </p:nvSpPr>
        <p:spPr>
          <a:xfrm>
            <a:off x="868680" y="2743200"/>
            <a:ext cx="4617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23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 workflow for Farmer NIDs, Buyer Trade Licenses, and Analyst Degrees.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126480" y="1783080"/>
            <a:ext cx="5257800" cy="2240280"/>
          </a:xfrm>
          <a:prstGeom prst="roundRect">
            <a:avLst>
              <a:gd name="adj" fmla="val 4082"/>
            </a:avLst>
          </a:prstGeom>
          <a:solidFill>
            <a:srgbClr val="F7F5E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2" name="Shape 10"/>
          <p:cNvSpPr/>
          <p:nvPr/>
        </p:nvSpPr>
        <p:spPr>
          <a:xfrm>
            <a:off x="6400800" y="2057400"/>
            <a:ext cx="502920" cy="502920"/>
          </a:xfrm>
          <a:prstGeom prst="ellipse">
            <a:avLst/>
          </a:prstGeom>
          <a:solidFill>
            <a:srgbClr val="8E4A6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 txBox="1"/>
          <p:nvPr/>
        </p:nvSpPr>
        <p:spPr>
          <a:xfrm>
            <a:off x="6400800" y="2057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2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20" dirty="0"/>
          </a:p>
        </p:txBody>
      </p:sp>
      <p:sp>
        <p:nvSpPr>
          <p:cNvPr id="14" name="Text 12"/>
          <p:cNvSpPr txBox="1"/>
          <p:nvPr/>
        </p:nvSpPr>
        <p:spPr>
          <a:xfrm>
            <a:off x="7086600" y="2039112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46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Escrow &amp; Revenue Control</a:t>
            </a:r>
            <a:endParaRPr lang="en-US" sz="1550" dirty="0"/>
          </a:p>
        </p:txBody>
      </p:sp>
      <p:sp>
        <p:nvSpPr>
          <p:cNvPr id="15" name="Text 13"/>
          <p:cNvSpPr txBox="1"/>
          <p:nvPr/>
        </p:nvSpPr>
        <p:spPr>
          <a:xfrm>
            <a:off x="6446520" y="2743200"/>
            <a:ext cx="4617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23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transaction monitoring and automated platform commission tracking.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4297680"/>
            <a:ext cx="5257800" cy="2240280"/>
          </a:xfrm>
          <a:prstGeom prst="roundRect">
            <a:avLst>
              <a:gd name="adj" fmla="val 4082"/>
            </a:avLst>
          </a:prstGeom>
          <a:solidFill>
            <a:srgbClr val="F7F5E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7" name="Shape 15"/>
          <p:cNvSpPr/>
          <p:nvPr/>
        </p:nvSpPr>
        <p:spPr>
          <a:xfrm>
            <a:off x="822960" y="4572000"/>
            <a:ext cx="502920" cy="502920"/>
          </a:xfrm>
          <a:prstGeom prst="ellipse">
            <a:avLst/>
          </a:prstGeom>
          <a:solidFill>
            <a:srgbClr val="8E4A6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8" name="Text 16"/>
          <p:cNvSpPr txBox="1"/>
          <p:nvPr/>
        </p:nvSpPr>
        <p:spPr>
          <a:xfrm>
            <a:off x="822960" y="4572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2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20" dirty="0"/>
          </a:p>
        </p:txBody>
      </p:sp>
      <p:sp>
        <p:nvSpPr>
          <p:cNvPr id="19" name="Text 17"/>
          <p:cNvSpPr txBox="1"/>
          <p:nvPr/>
        </p:nvSpPr>
        <p:spPr>
          <a:xfrm>
            <a:off x="1508760" y="4553712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46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Content Moderation Engine</a:t>
            </a:r>
            <a:endParaRPr lang="en-US" sz="1550" dirty="0"/>
          </a:p>
        </p:txBody>
      </p:sp>
      <p:sp>
        <p:nvSpPr>
          <p:cNvPr id="20" name="Text 18"/>
          <p:cNvSpPr txBox="1"/>
          <p:nvPr/>
        </p:nvSpPr>
        <p:spPr>
          <a:xfrm>
            <a:off x="868680" y="5257800"/>
            <a:ext cx="4617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23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Mechanism to suspend or remove reported listings and fake campaigns.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126480" y="4297680"/>
            <a:ext cx="5257800" cy="2240280"/>
          </a:xfrm>
          <a:prstGeom prst="roundRect">
            <a:avLst>
              <a:gd name="adj" fmla="val 4082"/>
            </a:avLst>
          </a:prstGeom>
          <a:solidFill>
            <a:srgbClr val="F7F5E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2" name="Shape 20"/>
          <p:cNvSpPr/>
          <p:nvPr/>
        </p:nvSpPr>
        <p:spPr>
          <a:xfrm>
            <a:off x="6400800" y="4572000"/>
            <a:ext cx="502920" cy="502920"/>
          </a:xfrm>
          <a:prstGeom prst="ellipse">
            <a:avLst/>
          </a:prstGeom>
          <a:solidFill>
            <a:srgbClr val="8E4A6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3" name="Text 21"/>
          <p:cNvSpPr txBox="1"/>
          <p:nvPr/>
        </p:nvSpPr>
        <p:spPr>
          <a:xfrm>
            <a:off x="6400800" y="4572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2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20" dirty="0"/>
          </a:p>
        </p:txBody>
      </p:sp>
      <p:sp>
        <p:nvSpPr>
          <p:cNvPr id="24" name="Text 22"/>
          <p:cNvSpPr txBox="1"/>
          <p:nvPr/>
        </p:nvSpPr>
        <p:spPr>
          <a:xfrm>
            <a:off x="7086600" y="4553712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46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Admin Profile &amp; Settings</a:t>
            </a:r>
            <a:endParaRPr lang="en-US" sz="1550" dirty="0"/>
          </a:p>
        </p:txBody>
      </p:sp>
      <p:sp>
        <p:nvSpPr>
          <p:cNvPr id="25" name="Text 23"/>
          <p:cNvSpPr txBox="1"/>
          <p:nvPr/>
        </p:nvSpPr>
        <p:spPr>
          <a:xfrm>
            <a:off x="6446520" y="5257800"/>
            <a:ext cx="4617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23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security management, profile updates, and maintenance controls.</a:t>
            </a:r>
            <a:endParaRPr lang="en-US" sz="1250" dirty="0"/>
          </a:p>
        </p:txBody>
      </p:sp>
      <p:sp>
        <p:nvSpPr>
          <p:cNvPr id="26" name="Text 24"/>
          <p:cNvSpPr txBox="1"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6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6E9C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POLISH PASS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46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UI/UX Improvements Implemented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520440" cy="3657600"/>
          </a:xfrm>
          <a:prstGeom prst="roundRect">
            <a:avLst>
              <a:gd name="adj" fmla="val 2597"/>
            </a:avLst>
          </a:prstGeom>
          <a:solidFill>
            <a:srgbClr val="F7F5E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Shape 3"/>
          <p:cNvSpPr/>
          <p:nvPr/>
        </p:nvSpPr>
        <p:spPr>
          <a:xfrm>
            <a:off x="1897380" y="2194560"/>
            <a:ext cx="822960" cy="822960"/>
          </a:xfrm>
          <a:prstGeom prst="ellipse">
            <a:avLst/>
          </a:prstGeom>
          <a:solidFill>
            <a:srgbClr val="6E9C4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 txBox="1"/>
          <p:nvPr/>
        </p:nvSpPr>
        <p:spPr>
          <a:xfrm>
            <a:off x="1897380" y="21945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6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16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3246120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1E46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Password Show/Hide Toggle</a:t>
            </a:r>
            <a:endParaRPr lang="en-US" sz="155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3977640"/>
            <a:ext cx="2880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23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Integrated password visibility toggles across all security settings modules.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297680" y="1828800"/>
            <a:ext cx="3520440" cy="3657600"/>
          </a:xfrm>
          <a:prstGeom prst="roundRect">
            <a:avLst>
              <a:gd name="adj" fmla="val 2597"/>
            </a:avLst>
          </a:prstGeom>
          <a:solidFill>
            <a:srgbClr val="1E462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0" name="Shape 8"/>
          <p:cNvSpPr/>
          <p:nvPr/>
        </p:nvSpPr>
        <p:spPr>
          <a:xfrm>
            <a:off x="5646420" y="2194560"/>
            <a:ext cx="822960" cy="822960"/>
          </a:xfrm>
          <a:prstGeom prst="ellipse">
            <a:avLst/>
          </a:prstGeom>
          <a:solidFill>
            <a:srgbClr val="D98E04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 txBox="1"/>
          <p:nvPr/>
        </p:nvSpPr>
        <p:spPr>
          <a:xfrm>
            <a:off x="5646420" y="21945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6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160" dirty="0"/>
          </a:p>
        </p:txBody>
      </p:sp>
      <p:sp>
        <p:nvSpPr>
          <p:cNvPr id="12" name="Text 10"/>
          <p:cNvSpPr txBox="1"/>
          <p:nvPr/>
        </p:nvSpPr>
        <p:spPr>
          <a:xfrm>
            <a:off x="4526280" y="3246120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Layout Spacing &amp; Alignment</a:t>
            </a:r>
            <a:endParaRPr lang="en-US" sz="1550" dirty="0"/>
          </a:p>
        </p:txBody>
      </p:sp>
      <p:sp>
        <p:nvSpPr>
          <p:cNvPr id="13" name="Text 11"/>
          <p:cNvSpPr txBox="1"/>
          <p:nvPr/>
        </p:nvSpPr>
        <p:spPr>
          <a:xfrm>
            <a:off x="4617720" y="3977640"/>
            <a:ext cx="2880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E9F1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inline alignment for checkboxes, buttons, and form grids.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046720" y="1828800"/>
            <a:ext cx="3520440" cy="3657600"/>
          </a:xfrm>
          <a:prstGeom prst="roundRect">
            <a:avLst>
              <a:gd name="adj" fmla="val 2597"/>
            </a:avLst>
          </a:prstGeom>
          <a:solidFill>
            <a:srgbClr val="F7F5E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5" name="Shape 13"/>
          <p:cNvSpPr/>
          <p:nvPr/>
        </p:nvSpPr>
        <p:spPr>
          <a:xfrm>
            <a:off x="9395460" y="2194560"/>
            <a:ext cx="822960" cy="822960"/>
          </a:xfrm>
          <a:prstGeom prst="ellipse">
            <a:avLst/>
          </a:prstGeom>
          <a:solidFill>
            <a:srgbClr val="6E9C4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6" name="Text 14"/>
          <p:cNvSpPr txBox="1"/>
          <p:nvPr/>
        </p:nvSpPr>
        <p:spPr>
          <a:xfrm>
            <a:off x="9395460" y="21945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6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160" dirty="0"/>
          </a:p>
        </p:txBody>
      </p:sp>
      <p:sp>
        <p:nvSpPr>
          <p:cNvPr id="17" name="Text 15"/>
          <p:cNvSpPr txBox="1"/>
          <p:nvPr/>
        </p:nvSpPr>
        <p:spPr>
          <a:xfrm>
            <a:off x="8275320" y="3246120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1E46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Navigation Consistency</a:t>
            </a:r>
            <a:endParaRPr lang="en-US" sz="1550" dirty="0"/>
          </a:p>
        </p:txBody>
      </p:sp>
      <p:sp>
        <p:nvSpPr>
          <p:cNvPr id="18" name="Text 16"/>
          <p:cNvSpPr txBox="1"/>
          <p:nvPr/>
        </p:nvSpPr>
        <p:spPr>
          <a:xfrm>
            <a:off x="8366760" y="3977640"/>
            <a:ext cx="2880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23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menu highlighting and responsive sidebars across all 4 portals.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6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230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D98E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Roadmap &amp; Conclusion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FE0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Immediate Next Steps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057400"/>
            <a:ext cx="502920" cy="502920"/>
          </a:xfrm>
          <a:prstGeom prst="ellipse">
            <a:avLst/>
          </a:prstGeom>
          <a:solidFill>
            <a:srgbClr val="D98E04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 txBox="1"/>
          <p:nvPr/>
        </p:nvSpPr>
        <p:spPr>
          <a:xfrm>
            <a:off x="548640" y="2057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2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20" dirty="0"/>
          </a:p>
        </p:txBody>
      </p:sp>
      <p:sp>
        <p:nvSpPr>
          <p:cNvPr id="7" name="Shape 5"/>
          <p:cNvSpPr/>
          <p:nvPr/>
        </p:nvSpPr>
        <p:spPr>
          <a:xfrm>
            <a:off x="1234440" y="2057400"/>
            <a:ext cx="9875520" cy="868680"/>
          </a:xfrm>
          <a:prstGeom prst="roundRect">
            <a:avLst>
              <a:gd name="adj" fmla="val 8421"/>
            </a:avLst>
          </a:prstGeom>
          <a:solidFill>
            <a:srgbClr val="234B25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 txBox="1"/>
          <p:nvPr/>
        </p:nvSpPr>
        <p:spPr>
          <a:xfrm>
            <a:off x="1508760" y="2057400"/>
            <a:ext cx="9326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Converting static HTML/CSS into reusable React.js + TypeScript components.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548640" y="3154680"/>
            <a:ext cx="502920" cy="502920"/>
          </a:xfrm>
          <a:prstGeom prst="ellipse">
            <a:avLst/>
          </a:prstGeom>
          <a:solidFill>
            <a:srgbClr val="D98E04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 txBox="1"/>
          <p:nvPr/>
        </p:nvSpPr>
        <p:spPr>
          <a:xfrm>
            <a:off x="548640" y="3154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2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20" dirty="0"/>
          </a:p>
        </p:txBody>
      </p:sp>
      <p:sp>
        <p:nvSpPr>
          <p:cNvPr id="11" name="Shape 9"/>
          <p:cNvSpPr/>
          <p:nvPr/>
        </p:nvSpPr>
        <p:spPr>
          <a:xfrm>
            <a:off x="1234440" y="3154680"/>
            <a:ext cx="9875520" cy="868680"/>
          </a:xfrm>
          <a:prstGeom prst="roundRect">
            <a:avLst>
              <a:gd name="adj" fmla="val 8421"/>
            </a:avLst>
          </a:prstGeom>
          <a:solidFill>
            <a:srgbClr val="234B25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2" name="Text 10"/>
          <p:cNvSpPr txBox="1"/>
          <p:nvPr/>
        </p:nvSpPr>
        <p:spPr>
          <a:xfrm>
            <a:off x="1508760" y="3154680"/>
            <a:ext cx="9326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RESTful APIs with Node.js and Express.js.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548640" y="4251960"/>
            <a:ext cx="502920" cy="502920"/>
          </a:xfrm>
          <a:prstGeom prst="ellipse">
            <a:avLst/>
          </a:prstGeom>
          <a:solidFill>
            <a:srgbClr val="D98E04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4" name="Text 12"/>
          <p:cNvSpPr txBox="1"/>
          <p:nvPr/>
        </p:nvSpPr>
        <p:spPr>
          <a:xfrm>
            <a:off x="548640" y="4251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2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20" dirty="0"/>
          </a:p>
        </p:txBody>
      </p:sp>
      <p:sp>
        <p:nvSpPr>
          <p:cNvPr id="15" name="Shape 13"/>
          <p:cNvSpPr/>
          <p:nvPr/>
        </p:nvSpPr>
        <p:spPr>
          <a:xfrm>
            <a:off x="1234440" y="4251960"/>
            <a:ext cx="9875520" cy="868680"/>
          </a:xfrm>
          <a:prstGeom prst="roundRect">
            <a:avLst>
              <a:gd name="adj" fmla="val 8421"/>
            </a:avLst>
          </a:prstGeom>
          <a:solidFill>
            <a:srgbClr val="234B25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6" name="Text 14"/>
          <p:cNvSpPr txBox="1"/>
          <p:nvPr/>
        </p:nvSpPr>
        <p:spPr>
          <a:xfrm>
            <a:off x="1508760" y="4251960"/>
            <a:ext cx="9326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schema creation in MongoDB for authentication, listings, and escrow.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548640" y="5440680"/>
            <a:ext cx="502920" cy="41148"/>
          </a:xfrm>
          <a:prstGeom prst="rect">
            <a:avLst/>
          </a:prstGeom>
          <a:solidFill>
            <a:srgbClr val="D98E04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8" name="Text 16"/>
          <p:cNvSpPr txBox="1"/>
          <p:nvPr/>
        </p:nvSpPr>
        <p:spPr>
          <a:xfrm>
            <a:off x="548640" y="562356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You!</a:t>
            </a:r>
            <a:endParaRPr lang="en-US" sz="26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61264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CFE0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Feedback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9D9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662</Words>
  <Application>Microsoft Office PowerPoint</Application>
  <PresentationFormat>Widescreen</PresentationFormat>
  <Paragraphs>160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Salman Farsy</cp:lastModifiedBy>
  <cp:revision>2</cp:revision>
  <dcterms:created xsi:type="dcterms:W3CDTF">2026-09-08T06:27:15Z</dcterms:created>
  <dcterms:modified xsi:type="dcterms:W3CDTF">2026-09-08T06:41:24Z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efa4170-0d19-0005-0004-bc88714345d2_Enabled">
    <vt:lpwstr>true</vt:lpwstr>
  </property>
  <property fmtid="{D5CDD505-2E9C-101B-9397-08002B2CF9AE}" pid="3" name="MSIP_Label_defa4170-0d19-0005-0004-bc88714345d2_SetDate">
    <vt:lpwstr>2026-09-08T06:41:24Z</vt:lpwstr>
  </property>
  <property fmtid="{D5CDD505-2E9C-101B-9397-08002B2CF9AE}" pid="4" name="MSIP_Label_defa4170-0d19-0005-0004-bc88714345d2_Method">
    <vt:lpwstr>Standard</vt:lpwstr>
  </property>
  <property fmtid="{D5CDD505-2E9C-101B-9397-08002B2CF9AE}" pid="5" name="MSIP_Label_defa4170-0d19-0005-0004-bc88714345d2_Name">
    <vt:lpwstr>defa4170-0d19-0005-0004-bc88714345d2</vt:lpwstr>
  </property>
  <property fmtid="{D5CDD505-2E9C-101B-9397-08002B2CF9AE}" pid="6" name="MSIP_Label_defa4170-0d19-0005-0004-bc88714345d2_SiteId">
    <vt:lpwstr>ed3dee42-e0b6-4e0c-bbc8-f75d57e7d6cd</vt:lpwstr>
  </property>
  <property fmtid="{D5CDD505-2E9C-101B-9397-08002B2CF9AE}" pid="7" name="MSIP_Label_defa4170-0d19-0005-0004-bc88714345d2_ActionId">
    <vt:lpwstr>03a58d6a-f47c-477e-9e16-7579a75c453b</vt:lpwstr>
  </property>
  <property fmtid="{D5CDD505-2E9C-101B-9397-08002B2CF9AE}" pid="8" name="MSIP_Label_defa4170-0d19-0005-0004-bc88714345d2_ContentBits">
    <vt:lpwstr>0</vt:lpwstr>
  </property>
  <property fmtid="{D5CDD505-2E9C-101B-9397-08002B2CF9AE}" pid="9" name="MSIP_Label_defa4170-0d19-0005-0004-bc88714345d2_Tag">
    <vt:lpwstr>10, 3, 0, 1</vt:lpwstr>
  </property>
</Properties>
</file>